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87" r:id="rId3"/>
    <p:sldId id="288" r:id="rId4"/>
    <p:sldId id="332" r:id="rId5"/>
    <p:sldId id="333" r:id="rId6"/>
    <p:sldId id="278" r:id="rId7"/>
    <p:sldId id="289" r:id="rId8"/>
    <p:sldId id="279" r:id="rId9"/>
    <p:sldId id="280" r:id="rId10"/>
    <p:sldId id="258" r:id="rId11"/>
    <p:sldId id="281" r:id="rId12"/>
    <p:sldId id="261" r:id="rId13"/>
    <p:sldId id="282" r:id="rId14"/>
    <p:sldId id="283" r:id="rId15"/>
    <p:sldId id="331" r:id="rId16"/>
    <p:sldId id="284" r:id="rId17"/>
    <p:sldId id="285" r:id="rId18"/>
    <p:sldId id="259" r:id="rId19"/>
    <p:sldId id="286" r:id="rId20"/>
    <p:sldId id="260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91" r:id="rId31"/>
    <p:sldId id="330" r:id="rId32"/>
    <p:sldId id="292" r:id="rId33"/>
    <p:sldId id="294" r:id="rId34"/>
    <p:sldId id="298" r:id="rId35"/>
    <p:sldId id="299" r:id="rId36"/>
    <p:sldId id="295" r:id="rId37"/>
    <p:sldId id="303" r:id="rId38"/>
    <p:sldId id="304" r:id="rId39"/>
    <p:sldId id="305" r:id="rId40"/>
    <p:sldId id="309" r:id="rId41"/>
    <p:sldId id="310" r:id="rId42"/>
    <p:sldId id="334" r:id="rId43"/>
    <p:sldId id="326" r:id="rId44"/>
    <p:sldId id="33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2" d="100"/>
          <a:sy n="52" d="100"/>
        </p:scale>
        <p:origin x="-1884" y="-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BE790-CF77-45B3-BEA7-724A0274A910}" type="datetimeFigureOut">
              <a:rPr lang="es-AR" smtClean="0"/>
              <a:pPr/>
              <a:t>13/06/2017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1D26C-3972-4BC0-A140-5F3525DE09AB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80513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s-ES" altLang="es-AR" smtClean="0"/>
              <a:t>Pñ´ç</a:t>
            </a:r>
          </a:p>
          <a:p>
            <a:pPr eaLnBrk="1" hangingPunct="1"/>
            <a:r>
              <a:rPr lang="es-ES" altLang="es-AR" smtClean="0"/>
              <a:t>`+ç</a:t>
            </a:r>
          </a:p>
          <a:p>
            <a:pPr eaLnBrk="1" hangingPunct="1"/>
            <a:r>
              <a:rPr lang="es-ES" altLang="es-AR" smtClean="0"/>
              <a:t>`+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8AEA9-3C3F-4929-89C8-1DC2FBB8AAF7}" type="datetimeFigureOut">
              <a:rPr lang="en-US" smtClean="0"/>
              <a:pPr/>
              <a:t>6/13/2017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561A6-BD5E-4390-A713-CE3538330F9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media.salon.com/2013/02/shutterstock_psychology-brain-wheels-1280x9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95251"/>
            <a:ext cx="9372600" cy="7029451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029200" y="4876800"/>
            <a:ext cx="4114800" cy="15240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_tradnl" sz="3200" b="1" dirty="0" smtClean="0"/>
              <a:t>EL PODER DE LA PERSUASION 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1676400"/>
            <a:ext cx="5334000" cy="2862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600" dirty="0"/>
              <a:t>Si el mundo es un escenario, el más minino cambio en </a:t>
            </a:r>
            <a:r>
              <a:rPr lang="es-AR" sz="3600" dirty="0" smtClean="0"/>
              <a:t> nuestro guion </a:t>
            </a:r>
            <a:r>
              <a:rPr lang="es-AR" sz="3600" dirty="0"/>
              <a:t>puede acarrear consecuencias dramáticas. </a:t>
            </a:r>
          </a:p>
        </p:txBody>
      </p:sp>
    </p:spTree>
    <p:extLst>
      <p:ext uri="{BB962C8B-B14F-4D97-AF65-F5344CB8AC3E}">
        <p14:creationId xmlns:p14="http://schemas.microsoft.com/office/powerpoint/2010/main" xmlns="" val="409957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47800" y="1066800"/>
            <a:ext cx="5410200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600" dirty="0"/>
              <a:t>Nuestros mensajes pueden ser mucho mas influyentes si introducimos cambios </a:t>
            </a:r>
            <a:r>
              <a:rPr lang="es-AR" sz="3600" dirty="0" smtClean="0"/>
              <a:t>mínimos </a:t>
            </a:r>
            <a:r>
              <a:rPr lang="es-AR" sz="3600" dirty="0"/>
              <a:t>y sencillos.</a:t>
            </a:r>
          </a:p>
        </p:txBody>
      </p:sp>
    </p:spTree>
    <p:extLst>
      <p:ext uri="{BB962C8B-B14F-4D97-AF65-F5344CB8AC3E}">
        <p14:creationId xmlns:p14="http://schemas.microsoft.com/office/powerpoint/2010/main" xmlns="" val="312205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a persuasión es un método de influencia social. Es el proceso de guiar a la gente hacia la adopción          de una idea,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620688"/>
            <a:ext cx="7517408" cy="56380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1447800"/>
            <a:ext cx="7696200" cy="2286000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AR" sz="2800" dirty="0"/>
              <a:t>la persuasión es una de las habilidades más efectivas para construir relaciones personales </a:t>
            </a:r>
            <a:br>
              <a:rPr lang="es-AR" sz="2800" dirty="0"/>
            </a:br>
            <a:r>
              <a:rPr lang="es-AR" sz="2800" dirty="0"/>
              <a:t>exitosas y alcanzar lo Que deseamos en la vida</a:t>
            </a:r>
            <a:endParaRPr lang="es-ES_tradnl" sz="2800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381000" y="5257800"/>
            <a:ext cx="8382000" cy="1295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s-AR" sz="2400" b="1" dirty="0" smtClean="0">
                <a:solidFill>
                  <a:schemeClr val="tx1"/>
                </a:solidFill>
              </a:rPr>
              <a:t>Nos </a:t>
            </a:r>
            <a:r>
              <a:rPr lang="es-AR" sz="2400" b="1" dirty="0">
                <a:solidFill>
                  <a:schemeClr val="tx1"/>
                </a:solidFill>
              </a:rPr>
              <a:t>da la capacidad de influir en los demás; </a:t>
            </a:r>
          </a:p>
          <a:p>
            <a:pPr lvl="0" algn="ctr">
              <a:spcBef>
                <a:spcPct val="0"/>
              </a:spcBef>
              <a:defRPr/>
            </a:pPr>
            <a:r>
              <a:rPr lang="es-AR" sz="2400" b="1" dirty="0" smtClean="0">
                <a:solidFill>
                  <a:schemeClr val="tx1"/>
                </a:solidFill>
              </a:rPr>
              <a:t>funciona </a:t>
            </a:r>
            <a:r>
              <a:rPr lang="es-AR" sz="2400" b="1" dirty="0">
                <a:solidFill>
                  <a:schemeClr val="tx1"/>
                </a:solidFill>
              </a:rPr>
              <a:t>de una manera </a:t>
            </a:r>
            <a:r>
              <a:rPr lang="es-AR" sz="2400" b="1" dirty="0" smtClean="0">
                <a:solidFill>
                  <a:schemeClr val="tx1"/>
                </a:solidFill>
              </a:rPr>
              <a:t>casi </a:t>
            </a:r>
            <a:r>
              <a:rPr lang="es-AR" sz="2400" b="1" dirty="0">
                <a:solidFill>
                  <a:schemeClr val="tx1"/>
                </a:solidFill>
              </a:rPr>
              <a:t>mágica </a:t>
            </a:r>
            <a:endParaRPr kumimoji="0" lang="es-ES_tradnl" sz="2400" b="1" i="0" u="none" strike="noStrike" kern="120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38200" y="1295400"/>
            <a:ext cx="6934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Según el psicólogo social Robert </a:t>
            </a:r>
            <a:r>
              <a:rPr lang="es-AR" sz="3200" dirty="0" err="1"/>
              <a:t>Cialdini</a:t>
            </a:r>
            <a:r>
              <a:rPr lang="es-AR" sz="3200" dirty="0"/>
              <a:t> la persuasión está dentro del ámbito de la psicología, por lo que es una ciencia, debido a ello </a:t>
            </a:r>
            <a:r>
              <a:rPr lang="es-AR" sz="3200" dirty="0" smtClean="0"/>
              <a:t>cualquiera,  </a:t>
            </a:r>
            <a:r>
              <a:rPr lang="es-AR" sz="3200" dirty="0"/>
              <a:t>hasta aquellas personas incapaces de </a:t>
            </a:r>
            <a:r>
              <a:rPr lang="es-AR" sz="3200" dirty="0" smtClean="0"/>
              <a:t>convencer  </a:t>
            </a:r>
            <a:r>
              <a:rPr lang="es-AR" sz="3200" dirty="0"/>
              <a:t>a un niño pueden convertirse en expertos con los conocimiento de esta rama de la ciencia.</a:t>
            </a:r>
          </a:p>
        </p:txBody>
      </p:sp>
    </p:spTree>
    <p:extLst>
      <p:ext uri="{BB962C8B-B14F-4D97-AF65-F5344CB8AC3E}">
        <p14:creationId xmlns:p14="http://schemas.microsoft.com/office/powerpoint/2010/main" xmlns="" val="10396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14400" y="609600"/>
            <a:ext cx="5943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 </a:t>
            </a:r>
            <a:r>
              <a:rPr lang="es-AR" sz="3600" dirty="0"/>
              <a:t>Influencia </a:t>
            </a:r>
          </a:p>
          <a:p>
            <a:r>
              <a:rPr lang="es-AR" sz="3600" dirty="0"/>
              <a:t>• Carisma </a:t>
            </a:r>
          </a:p>
          <a:p>
            <a:r>
              <a:rPr lang="es-AR" sz="3600" dirty="0"/>
              <a:t>• Empatía </a:t>
            </a:r>
          </a:p>
          <a:p>
            <a:r>
              <a:rPr lang="es-AR" sz="3600" dirty="0"/>
              <a:t>• Magnetismo </a:t>
            </a:r>
          </a:p>
          <a:p>
            <a:r>
              <a:rPr lang="es-AR" sz="3600" dirty="0"/>
              <a:t>• Confiabilidad 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295400" y="4114800"/>
            <a:ext cx="5562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¿A quién no le agradaría desarrollar una personalidad con estas características?</a:t>
            </a:r>
          </a:p>
        </p:txBody>
      </p:sp>
    </p:spTree>
    <p:extLst>
      <p:ext uri="{BB962C8B-B14F-4D97-AF65-F5344CB8AC3E}">
        <p14:creationId xmlns:p14="http://schemas.microsoft.com/office/powerpoint/2010/main" xmlns="" val="121324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09600" y="1219200"/>
            <a:ext cx="6629400" cy="25545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200" dirty="0"/>
              <a:t>Para  los </a:t>
            </a:r>
            <a:r>
              <a:rPr lang="es-AR" sz="3200" dirty="0" smtClean="0"/>
              <a:t>seres </a:t>
            </a:r>
            <a:r>
              <a:rPr lang="es-AR" sz="3200" dirty="0"/>
              <a:t>humanos las relaciones personales deberían ser su prioridad ya que de alguna forma  nuestra </a:t>
            </a:r>
            <a:r>
              <a:rPr lang="es-AR" sz="3200" dirty="0" smtClean="0"/>
              <a:t>vida,  éxito  </a:t>
            </a:r>
            <a:r>
              <a:rPr lang="es-AR" sz="3200" dirty="0"/>
              <a:t>y bienestar dependen de otras personas</a:t>
            </a:r>
          </a:p>
        </p:txBody>
      </p:sp>
    </p:spTree>
    <p:extLst>
      <p:ext uri="{BB962C8B-B14F-4D97-AF65-F5344CB8AC3E}">
        <p14:creationId xmlns:p14="http://schemas.microsoft.com/office/powerpoint/2010/main" xmlns="" val="80278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95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_tradnl" b="1" dirty="0" smtClean="0"/>
              <a:t>Concepto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Influencia: </a:t>
            </a:r>
          </a:p>
          <a:p>
            <a:pPr marL="0" indent="0">
              <a:buNone/>
            </a:pPr>
            <a:r>
              <a:rPr lang="es-AR" dirty="0" smtClean="0"/>
              <a:t>El poder </a:t>
            </a:r>
            <a:r>
              <a:rPr lang="es-AR" dirty="0"/>
              <a:t>para producir determinados efectos sobre </a:t>
            </a:r>
          </a:p>
          <a:p>
            <a:pPr marL="0" indent="0">
              <a:buNone/>
            </a:pPr>
            <a:r>
              <a:rPr lang="es-AR" dirty="0"/>
              <a:t>una </a:t>
            </a:r>
            <a:r>
              <a:rPr lang="es-AR" dirty="0" smtClean="0"/>
              <a:t>persona</a:t>
            </a:r>
          </a:p>
          <a:p>
            <a:r>
              <a:rPr lang="es-AR" dirty="0"/>
              <a:t>Carisma: </a:t>
            </a:r>
            <a:r>
              <a:rPr lang="es-AR" dirty="0" smtClean="0"/>
              <a:t>capacidad </a:t>
            </a:r>
            <a:r>
              <a:rPr lang="es-AR" dirty="0"/>
              <a:t>para </a:t>
            </a:r>
            <a:r>
              <a:rPr lang="es-AR" dirty="0" smtClean="0"/>
              <a:t>atraer o fascinar </a:t>
            </a:r>
            <a:r>
              <a:rPr lang="es-AR" dirty="0"/>
              <a:t>a </a:t>
            </a:r>
            <a:r>
              <a:rPr lang="es-AR" dirty="0" smtClean="0"/>
              <a:t>otros</a:t>
            </a:r>
          </a:p>
          <a:p>
            <a:r>
              <a:rPr lang="es-AR" dirty="0" smtClean="0"/>
              <a:t>Empatía: identificación mental  </a:t>
            </a:r>
            <a:r>
              <a:rPr lang="es-AR" dirty="0"/>
              <a:t>y afectiva con el estado de </a:t>
            </a:r>
            <a:r>
              <a:rPr lang="es-AR" dirty="0" smtClean="0"/>
              <a:t>ánimo </a:t>
            </a:r>
            <a:r>
              <a:rPr lang="es-AR" dirty="0"/>
              <a:t>de otra </a:t>
            </a:r>
            <a:r>
              <a:rPr lang="es-AR" dirty="0" smtClean="0"/>
              <a:t>persona.</a:t>
            </a:r>
          </a:p>
          <a:p>
            <a:pPr marL="0" indent="0">
              <a:buNone/>
            </a:pP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066801"/>
            <a:ext cx="5715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 smtClean="0"/>
              <a:t>Magnetismo: </a:t>
            </a:r>
            <a:r>
              <a:rPr lang="es-AR" sz="2800" dirty="0"/>
              <a:t>atractivo que alguien </a:t>
            </a:r>
            <a:r>
              <a:rPr lang="es-AR" sz="2800" dirty="0" smtClean="0"/>
              <a:t>ejerce </a:t>
            </a:r>
            <a:r>
              <a:rPr lang="es-AR" sz="2800" dirty="0"/>
              <a:t>sobre otra </a:t>
            </a:r>
            <a:r>
              <a:rPr lang="es-AR" sz="2800" dirty="0" smtClean="0"/>
              <a:t>persona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A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 smtClean="0"/>
              <a:t>Confiabilidad: </a:t>
            </a:r>
            <a:r>
              <a:rPr lang="es-AR" sz="2800" dirty="0"/>
              <a:t>cualidad de una persona que es merecedora </a:t>
            </a:r>
          </a:p>
          <a:p>
            <a:r>
              <a:rPr lang="es-AR" sz="2800" dirty="0" smtClean="0"/>
              <a:t>      de </a:t>
            </a:r>
            <a:r>
              <a:rPr lang="es-AR" sz="2800" dirty="0"/>
              <a:t>confianza</a:t>
            </a:r>
          </a:p>
        </p:txBody>
      </p:sp>
    </p:spTree>
    <p:extLst>
      <p:ext uri="{BB962C8B-B14F-4D97-AF65-F5344CB8AC3E}">
        <p14:creationId xmlns:p14="http://schemas.microsoft.com/office/powerpoint/2010/main" xmlns="" val="226088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95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_tradnl" b="1" dirty="0" smtClean="0"/>
              <a:t>Concepto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AR" u="sng" dirty="0" smtClean="0"/>
              <a:t>• PERSUASIÓN </a:t>
            </a:r>
          </a:p>
          <a:p>
            <a:pPr marL="0" indent="0">
              <a:buNone/>
            </a:pPr>
            <a:r>
              <a:rPr lang="es-AR" sz="4400" dirty="0" smtClean="0"/>
              <a:t>Es la llave que abre todas las puertas.</a:t>
            </a:r>
          </a:p>
          <a:p>
            <a:pPr marL="0" indent="0">
              <a:buNone/>
            </a:pPr>
            <a:r>
              <a:rPr lang="es-AR" sz="4400" dirty="0"/>
              <a:t> es la habilidad para inducir </a:t>
            </a:r>
            <a:r>
              <a:rPr lang="es-AR" sz="4400" dirty="0" smtClean="0"/>
              <a:t>creencias  </a:t>
            </a:r>
            <a:r>
              <a:rPr lang="es-AR" sz="4400" dirty="0"/>
              <a:t>y valores </a:t>
            </a:r>
            <a:r>
              <a:rPr lang="es-AR" sz="4400" dirty="0" smtClean="0"/>
              <a:t>a otras </a:t>
            </a:r>
            <a:r>
              <a:rPr lang="es-AR" sz="4400" dirty="0"/>
              <a:t>personas mediante la influencia de sus pensamientos y </a:t>
            </a:r>
          </a:p>
          <a:p>
            <a:pPr marL="0" indent="0">
              <a:buNone/>
            </a:pPr>
            <a:r>
              <a:rPr lang="es-AR" sz="4400" dirty="0" smtClean="0"/>
              <a:t> </a:t>
            </a:r>
            <a:r>
              <a:rPr lang="es-AR" sz="4400" dirty="0"/>
              <a:t>a través de estrategias específicas.</a:t>
            </a:r>
            <a:endParaRPr lang="es-ES_tradnl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90600" y="1295400"/>
            <a:ext cx="5867400" cy="25545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200" dirty="0"/>
              <a:t>El </a:t>
            </a:r>
            <a:r>
              <a:rPr lang="es-AR" sz="3200" dirty="0" smtClean="0"/>
              <a:t>propósito </a:t>
            </a:r>
            <a:r>
              <a:rPr lang="es-AR" sz="3200" dirty="0"/>
              <a:t>central del proceso de persuasión es hacer que </a:t>
            </a:r>
          </a:p>
          <a:p>
            <a:r>
              <a:rPr lang="es-AR" sz="3200" dirty="0"/>
              <a:t>Otros </a:t>
            </a:r>
            <a:r>
              <a:rPr lang="es-AR" sz="3200" dirty="0" smtClean="0"/>
              <a:t>tomen </a:t>
            </a:r>
            <a:r>
              <a:rPr lang="es-AR" sz="3200" dirty="0"/>
              <a:t>acción y </a:t>
            </a:r>
            <a:r>
              <a:rPr lang="es-AR" sz="3200" dirty="0" smtClean="0"/>
              <a:t>lograr </a:t>
            </a:r>
            <a:r>
              <a:rPr lang="es-AR" sz="3200" dirty="0"/>
              <a:t>su </a:t>
            </a:r>
            <a:r>
              <a:rPr lang="es-AR" sz="3200" dirty="0" smtClean="0"/>
              <a:t>compromiso, aceptación y confianza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xmlns="" val="983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47800" y="1143000"/>
            <a:ext cx="5410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Para comprender las raíces de la </a:t>
            </a:r>
            <a:r>
              <a:rPr lang="es-AR" sz="3200" dirty="0" smtClean="0"/>
              <a:t>persuasión</a:t>
            </a:r>
            <a:r>
              <a:rPr lang="es-AR" sz="3200" dirty="0"/>
              <a:t>, es </a:t>
            </a:r>
            <a:r>
              <a:rPr lang="es-AR" sz="3200" dirty="0" smtClean="0"/>
              <a:t>importante </a:t>
            </a:r>
            <a:endParaRPr lang="es-AR" sz="3200" dirty="0"/>
          </a:p>
          <a:p>
            <a:r>
              <a:rPr lang="es-AR" sz="3200" dirty="0"/>
              <a:t>recordar que por na </a:t>
            </a:r>
            <a:r>
              <a:rPr lang="es-AR" sz="3200" dirty="0" err="1" smtClean="0"/>
              <a:t>turaleza</a:t>
            </a:r>
            <a:r>
              <a:rPr lang="es-AR" sz="3200" dirty="0" smtClean="0"/>
              <a:t> </a:t>
            </a:r>
            <a:r>
              <a:rPr lang="es-AR" sz="3200" dirty="0"/>
              <a:t>los seres humanos estamos </a:t>
            </a:r>
            <a:r>
              <a:rPr lang="es-AR" sz="3200" dirty="0" smtClean="0"/>
              <a:t>motivados por dos pulsiones: evitar dolor  y obtener mas placer.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xmlns="" val="37604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533399" y="381000"/>
            <a:ext cx="72390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5400" dirty="0" smtClean="0"/>
              <a:t>Evitar dolor  y obtener </a:t>
            </a:r>
          </a:p>
          <a:p>
            <a:r>
              <a:rPr lang="es-AR" sz="5400" dirty="0" smtClean="0"/>
              <a:t> placer.</a:t>
            </a:r>
            <a:endParaRPr lang="es-AR" sz="5400" dirty="0"/>
          </a:p>
        </p:txBody>
      </p:sp>
      <p:pic>
        <p:nvPicPr>
          <p:cNvPr id="1026" name="Picture 2" descr="Resultado de imagen para imagenes de la men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362200"/>
            <a:ext cx="6096000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14400" y="1143000"/>
            <a:ext cx="5943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• </a:t>
            </a:r>
            <a:r>
              <a:rPr lang="es-AR" sz="3200" dirty="0" smtClean="0"/>
              <a:t>Para desarrollar </a:t>
            </a:r>
            <a:r>
              <a:rPr lang="es-AR" sz="3200" dirty="0"/>
              <a:t>la habilidad de la persuasión, </a:t>
            </a:r>
            <a:r>
              <a:rPr lang="es-AR" sz="3200" dirty="0" smtClean="0"/>
              <a:t>antes </a:t>
            </a:r>
            <a:endParaRPr lang="es-AR" sz="3200" dirty="0"/>
          </a:p>
          <a:p>
            <a:r>
              <a:rPr lang="es-AR" sz="3200" dirty="0"/>
              <a:t>que nada se requiere trabajar en </a:t>
            </a:r>
            <a:r>
              <a:rPr lang="es-AR" sz="3200" dirty="0" smtClean="0"/>
              <a:t>uno  </a:t>
            </a:r>
            <a:r>
              <a:rPr lang="es-AR" sz="3200" dirty="0"/>
              <a:t>mismo, en la </a:t>
            </a:r>
          </a:p>
          <a:p>
            <a:r>
              <a:rPr lang="es-AR" sz="3200" dirty="0" smtClean="0"/>
              <a:t>Actitud, </a:t>
            </a:r>
            <a:r>
              <a:rPr lang="es-AR" sz="3200" dirty="0"/>
              <a:t>en el respeto </a:t>
            </a:r>
            <a:r>
              <a:rPr lang="es-AR" sz="3200" dirty="0" smtClean="0"/>
              <a:t> y conocimiento a </a:t>
            </a:r>
            <a:r>
              <a:rPr lang="es-AR" sz="3200" dirty="0"/>
              <a:t>los </a:t>
            </a:r>
            <a:r>
              <a:rPr lang="es-AR" sz="3200" dirty="0" smtClean="0"/>
              <a:t>demás.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xmlns="" val="12686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1524000"/>
            <a:ext cx="6541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600" dirty="0" smtClean="0"/>
              <a:t>¿ Que se desea obtener</a:t>
            </a:r>
            <a:r>
              <a:rPr lang="es-AR" sz="3600" dirty="0"/>
              <a:t>?</a:t>
            </a:r>
          </a:p>
        </p:txBody>
      </p:sp>
      <p:sp>
        <p:nvSpPr>
          <p:cNvPr id="3" name="2 Rectángulo"/>
          <p:cNvSpPr/>
          <p:nvPr/>
        </p:nvSpPr>
        <p:spPr>
          <a:xfrm>
            <a:off x="3735392" y="3244334"/>
            <a:ext cx="37403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AR" sz="3600" dirty="0"/>
              <a:t>Objetivos claros</a:t>
            </a:r>
          </a:p>
        </p:txBody>
      </p:sp>
      <p:sp>
        <p:nvSpPr>
          <p:cNvPr id="4" name="3 Rectángulo"/>
          <p:cNvSpPr/>
          <p:nvPr/>
        </p:nvSpPr>
        <p:spPr>
          <a:xfrm flipH="1">
            <a:off x="2133600" y="4721662"/>
            <a:ext cx="320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 smtClean="0">
                <a:solidFill>
                  <a:srgbClr val="FF0000"/>
                </a:solidFill>
              </a:rPr>
              <a:t>VEAMOS LAS TECNICAS</a:t>
            </a:r>
            <a:endParaRPr lang="es-A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28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4638"/>
            <a:ext cx="6629400" cy="193516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AR" b="1" dirty="0" smtClean="0"/>
              <a:t>Seamos  firmes  en </a:t>
            </a:r>
            <a:r>
              <a:rPr lang="es-AR" b="1" dirty="0"/>
              <a:t>la aprobación y </a:t>
            </a:r>
            <a:r>
              <a:rPr lang="es-AR" b="1" dirty="0" smtClean="0"/>
              <a:t>calurosos en  </a:t>
            </a:r>
            <a:r>
              <a:rPr lang="es-AR" b="1" dirty="0"/>
              <a:t>el elogio.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 smtClean="0"/>
              <a:t>Todos los seres humanos buscamos y necesitamos el reconocimiento y la aceptación </a:t>
            </a:r>
          </a:p>
          <a:p>
            <a:pPr marL="0" indent="0">
              <a:buNone/>
            </a:pPr>
            <a:r>
              <a:rPr lang="es-ES_tradnl" dirty="0" smtClean="0"/>
              <a:t>Haga sentir valiosas a las personas y recibirá veneración. </a:t>
            </a: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752600" y="1828801"/>
            <a:ext cx="5105400" cy="12003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600" dirty="0"/>
              <a:t>ETIQUETA E INTEGRA:</a:t>
            </a:r>
          </a:p>
          <a:p>
            <a:r>
              <a:rPr lang="es-AR" sz="3600" dirty="0"/>
              <a:t>ESO GENERA!!</a:t>
            </a:r>
          </a:p>
        </p:txBody>
      </p:sp>
    </p:spTree>
    <p:extLst>
      <p:ext uri="{BB962C8B-B14F-4D97-AF65-F5344CB8AC3E}">
        <p14:creationId xmlns:p14="http://schemas.microsoft.com/office/powerpoint/2010/main" xmlns="" val="124274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growingleaders.com/blog/wp-content/uploads/2011/10/marriage-commit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0"/>
            <a:ext cx="10401300" cy="6934200"/>
          </a:xfrm>
          <a:prstGeom prst="rect">
            <a:avLst/>
          </a:prstGeom>
          <a:noFill/>
        </p:spPr>
      </p:pic>
      <p:sp>
        <p:nvSpPr>
          <p:cNvPr id="3" name="2 CuadroTexto"/>
          <p:cNvSpPr txBox="1"/>
          <p:nvPr/>
        </p:nvSpPr>
        <p:spPr>
          <a:xfrm>
            <a:off x="2438400" y="1219200"/>
            <a:ext cx="2900281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_tradnl" sz="4000" b="1" dirty="0" smtClean="0"/>
              <a:t>Compromiso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_tradnl" dirty="0"/>
          </a:p>
        </p:txBody>
      </p:sp>
      <p:sp>
        <p:nvSpPr>
          <p:cNvPr id="4" name="3 CuadroTexto"/>
          <p:cNvSpPr txBox="1"/>
          <p:nvPr/>
        </p:nvSpPr>
        <p:spPr>
          <a:xfrm>
            <a:off x="0" y="1981200"/>
            <a:ext cx="9144000" cy="49244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2600" b="1" dirty="0" smtClean="0"/>
              <a:t>“Mientras más extenso el compromiso, más difícil de romper”</a:t>
            </a:r>
            <a:endParaRPr 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crossfitlisbeth.com/wp-content/uploads/2011/04/authorit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57200" y="0"/>
            <a:ext cx="10320669" cy="6934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95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_tradnl" b="1" dirty="0" smtClean="0"/>
              <a:t>Concepto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s-ES_tradnl" dirty="0" smtClean="0"/>
              <a:t>Cuando vemos que alguien tiene autoridad, tendemos a confiar en sus opiniones y sugestiones simplemente porque percibimos que esa persona es creíble.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53200" cy="11430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 </a:t>
            </a:r>
            <a:r>
              <a:rPr lang="en-US" b="1" dirty="0" err="1"/>
              <a:t>Validación</a:t>
            </a:r>
            <a:r>
              <a:rPr lang="en-US" b="1" dirty="0"/>
              <a:t>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50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Es parte de la naturaleza del ser humano 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observar </a:t>
            </a:r>
            <a:r>
              <a:rPr lang="es-AR" dirty="0"/>
              <a:t>lo que </a:t>
            </a:r>
            <a:r>
              <a:rPr lang="es-AR" dirty="0" smtClean="0"/>
              <a:t>hacen </a:t>
            </a:r>
            <a:endParaRPr lang="es-AR" dirty="0"/>
          </a:p>
          <a:p>
            <a:pPr marL="0" indent="0">
              <a:buNone/>
            </a:pPr>
            <a:r>
              <a:rPr lang="es-AR" dirty="0" smtClean="0"/>
              <a:t>Otros </a:t>
            </a:r>
            <a:r>
              <a:rPr lang="es-AR" dirty="0"/>
              <a:t>como </a:t>
            </a:r>
            <a:r>
              <a:rPr lang="es-AR" dirty="0" smtClean="0"/>
              <a:t>una </a:t>
            </a:r>
            <a:r>
              <a:rPr lang="es-AR" dirty="0"/>
              <a:t>forma de validación de </a:t>
            </a:r>
            <a:r>
              <a:rPr lang="es-AR" dirty="0" smtClean="0"/>
              <a:t>sus </a:t>
            </a:r>
            <a:r>
              <a:rPr lang="es-AR" dirty="0"/>
              <a:t>propias </a:t>
            </a:r>
            <a:r>
              <a:rPr lang="es-AR" dirty="0" smtClean="0"/>
              <a:t>acciones.</a:t>
            </a:r>
            <a:endParaRPr lang="es-ES_tradnl" dirty="0"/>
          </a:p>
        </p:txBody>
      </p:sp>
      <p:sp>
        <p:nvSpPr>
          <p:cNvPr id="4" name="3 CuadroTexto"/>
          <p:cNvSpPr txBox="1"/>
          <p:nvPr/>
        </p:nvSpPr>
        <p:spPr>
          <a:xfrm>
            <a:off x="0" y="1981200"/>
            <a:ext cx="9144000" cy="58477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¡SI LO HACE MUCHA GENTE POR ALGO ES!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www.tiendanube.com/blog/wp-content/uploads/2012/01/Maestro_Socia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598714"/>
            <a:ext cx="8763000" cy="6259286"/>
          </a:xfrm>
          <a:prstGeom prst="rect">
            <a:avLst/>
          </a:prstGeom>
          <a:noFill/>
        </p:spPr>
      </p:pic>
      <p:sp>
        <p:nvSpPr>
          <p:cNvPr id="3" name="2 CuadroTexto"/>
          <p:cNvSpPr txBox="1"/>
          <p:nvPr/>
        </p:nvSpPr>
        <p:spPr>
          <a:xfrm>
            <a:off x="914400" y="609600"/>
            <a:ext cx="2949397" cy="76944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4400" b="1" smtClean="0"/>
              <a:t>Social Proof</a:t>
            </a:r>
            <a:endParaRPr lang="en-US" sz="4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95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_tradnl" b="1" dirty="0" smtClean="0"/>
              <a:t>Concepto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 smtClean="0"/>
              <a:t>La “prueba social” es aquella situación en la que uno adopta las creencias o acciones d un grupo de gente en el que se confía.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362200" y="4419600"/>
            <a:ext cx="5867400" cy="1323439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s-ES_tradnl" sz="2000" b="1" dirty="0" smtClean="0"/>
              <a:t>Imagina una fiesta, nadie baila. Una vez que la primera pareja se anima, se suma una y otra y otra más. En unos minutos todos estamos bailando. Esto es “social </a:t>
            </a:r>
            <a:r>
              <a:rPr lang="es-ES_tradnl" sz="2000" b="1" dirty="0" err="1" smtClean="0"/>
              <a:t>proof</a:t>
            </a:r>
            <a:r>
              <a:rPr lang="es-ES_tradnl" sz="2000" b="1" dirty="0" smtClean="0"/>
              <a:t>”.</a:t>
            </a:r>
            <a:endParaRPr lang="en-US" sz="20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53200" cy="11430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ES_tradnl" b="1" dirty="0" smtClean="0"/>
              <a:t> </a:t>
            </a:r>
            <a:r>
              <a:rPr lang="es-ES_tradnl" b="1" dirty="0"/>
              <a:t>E</a:t>
            </a:r>
            <a:r>
              <a:rPr lang="es-ES_tradnl" b="1" dirty="0" smtClean="0"/>
              <a:t>xpectativa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90600" y="3581400"/>
            <a:ext cx="7696200" cy="304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dirty="0"/>
              <a:t>Las expectativas tienen un poderoso impacto cuando surgen de </a:t>
            </a:r>
            <a:r>
              <a:rPr lang="es-AR" dirty="0" smtClean="0"/>
              <a:t>alguien </a:t>
            </a:r>
            <a:r>
              <a:rPr lang="es-AR" dirty="0"/>
              <a:t>a </a:t>
            </a:r>
            <a:r>
              <a:rPr lang="es-AR" dirty="0" smtClean="0"/>
              <a:t>quien </a:t>
            </a:r>
            <a:r>
              <a:rPr lang="es-AR" dirty="0"/>
              <a:t>respetamos y en quien confiamos, ya que </a:t>
            </a:r>
            <a:r>
              <a:rPr lang="es-AR" dirty="0" smtClean="0"/>
              <a:t>buscara agradar y complacer.</a:t>
            </a:r>
          </a:p>
          <a:p>
            <a:pPr marL="0" indent="0">
              <a:buNone/>
            </a:pPr>
            <a:r>
              <a:rPr lang="es-AR" dirty="0"/>
              <a:t> Las </a:t>
            </a:r>
            <a:r>
              <a:rPr lang="es-AR" dirty="0" smtClean="0"/>
              <a:t>expectativas  </a:t>
            </a:r>
            <a:r>
              <a:rPr lang="es-AR" dirty="0"/>
              <a:t>se convierten en realidad. Literalmente son </a:t>
            </a:r>
            <a:r>
              <a:rPr lang="es-AR" dirty="0" smtClean="0"/>
              <a:t>una </a:t>
            </a:r>
            <a:r>
              <a:rPr lang="es-AR" dirty="0"/>
              <a:t>profecía. </a:t>
            </a:r>
            <a:endParaRPr lang="es-ES_tradnl" dirty="0" smtClean="0"/>
          </a:p>
        </p:txBody>
      </p:sp>
      <p:sp>
        <p:nvSpPr>
          <p:cNvPr id="4" name="3 CuadroTexto"/>
          <p:cNvSpPr txBox="1"/>
          <p:nvPr/>
        </p:nvSpPr>
        <p:spPr>
          <a:xfrm>
            <a:off x="0" y="1981200"/>
            <a:ext cx="9144000" cy="107721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200" b="1" dirty="0"/>
              <a:t>Una persona </a:t>
            </a:r>
            <a:r>
              <a:rPr lang="es-AR" sz="3200" b="1" dirty="0" smtClean="0"/>
              <a:t>tiende </a:t>
            </a:r>
            <a:r>
              <a:rPr lang="es-AR" sz="3200" b="1" dirty="0"/>
              <a:t>a actuar de acuerdo </a:t>
            </a:r>
          </a:p>
          <a:p>
            <a:pPr algn="ctr"/>
            <a:r>
              <a:rPr lang="es-AR" sz="3200" b="1" dirty="0"/>
              <a:t>con la </a:t>
            </a:r>
            <a:r>
              <a:rPr lang="es-AR" sz="3200" b="1" dirty="0" smtClean="0"/>
              <a:t>forma  </a:t>
            </a:r>
            <a:r>
              <a:rPr lang="es-AR" sz="3200" b="1" dirty="0"/>
              <a:t>como </a:t>
            </a:r>
            <a:r>
              <a:rPr lang="es-AR" sz="3200" b="1" dirty="0" smtClean="0"/>
              <a:t>otros esperan </a:t>
            </a:r>
            <a:r>
              <a:rPr lang="es-AR" sz="3200" b="1" dirty="0"/>
              <a:t>que </a:t>
            </a:r>
            <a:r>
              <a:rPr lang="es-AR" sz="3200" b="1" dirty="0" smtClean="0"/>
              <a:t>lo </a:t>
            </a:r>
            <a:r>
              <a:rPr lang="es-AR" sz="3200" b="1" dirty="0"/>
              <a:t>haga.</a:t>
            </a:r>
            <a:endParaRPr lang="en-US" sz="32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scarcity-samurai-review.com/wp-content/uploads/2013/02/Scarcity-Creates-Deman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26984"/>
            <a:ext cx="9143999" cy="6107216"/>
          </a:xfrm>
          <a:prstGeom prst="rect">
            <a:avLst/>
          </a:prstGeom>
          <a:noFill/>
        </p:spPr>
      </p:pic>
      <p:sp>
        <p:nvSpPr>
          <p:cNvPr id="3" name="2 CuadroTexto"/>
          <p:cNvSpPr txBox="1"/>
          <p:nvPr/>
        </p:nvSpPr>
        <p:spPr>
          <a:xfrm>
            <a:off x="304800" y="1752600"/>
            <a:ext cx="1923091" cy="76944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_tradnl" sz="4400" b="1" dirty="0" smtClean="0"/>
              <a:t>Escasez</a:t>
            </a:r>
            <a:endParaRPr 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95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_tradnl" b="1" dirty="0" smtClean="0"/>
              <a:t>Concepto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1981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_tradnl" smtClean="0"/>
              <a:t>Este principio psicológico está basado en la formula simple de oferta y demanda. Mientras más rara sea la oportunidad, el contenido o el producto, será más valorable.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362200" y="4419600"/>
            <a:ext cx="5867400" cy="584775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Lo </a:t>
            </a:r>
            <a:r>
              <a:rPr lang="en-US" sz="3200" b="1" dirty="0" err="1" smtClean="0"/>
              <a:t>escaso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mueve</a:t>
            </a:r>
            <a:r>
              <a:rPr lang="en-US" sz="3200" b="1" dirty="0" smtClean="0"/>
              <a:t> a la </a:t>
            </a:r>
            <a:r>
              <a:rPr lang="en-US" sz="3200" b="1" dirty="0" err="1" smtClean="0"/>
              <a:t>acción</a:t>
            </a:r>
            <a:r>
              <a:rPr lang="en-US" sz="3200" b="1" dirty="0" smtClean="0"/>
              <a:t> .</a:t>
            </a:r>
            <a:endParaRPr lang="en-US" sz="32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38200" y="609600"/>
            <a:ext cx="6019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/>
              <a:t>EL MIEDO MOVILIZA.</a:t>
            </a:r>
          </a:p>
          <a:p>
            <a:r>
              <a:rPr lang="es-AR" sz="2800" dirty="0"/>
              <a:t>SIEMPRE Y CUANDO SE ACOMPAÑE CON UN PLAN DE ACCION.</a:t>
            </a:r>
          </a:p>
        </p:txBody>
      </p:sp>
      <p:pic>
        <p:nvPicPr>
          <p:cNvPr id="2050" name="Picture 2" descr="https://encrypted-tbn2.gstatic.com/images?q=tbn:ANd9GcTGZse77fYpMt_OkTRhv_tpiwr7ibFlGe5MyHWaKx66lKPj2zUTxSOclhy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00400"/>
            <a:ext cx="3352799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5376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447800"/>
            <a:ext cx="61722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200" dirty="0"/>
              <a:t>EJEMPLOS DE PERSUASION SOCIAL</a:t>
            </a:r>
          </a:p>
        </p:txBody>
      </p:sp>
    </p:spTree>
    <p:extLst>
      <p:ext uri="{BB962C8B-B14F-4D97-AF65-F5344CB8AC3E}">
        <p14:creationId xmlns:p14="http://schemas.microsoft.com/office/powerpoint/2010/main" xmlns="" val="392616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4.bp.blogspot.com/-WT7rcbavsUM/T_G4I2cZo8I/AAAAAAAAALY/efqlLJpe2v8/s200/fortalezas%2By%2Bdebilidad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429000"/>
            <a:ext cx="27432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219200" y="1371601"/>
            <a:ext cx="5638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600" dirty="0"/>
              <a:t>¿Cuál es la mejor manera de</a:t>
            </a:r>
          </a:p>
          <a:p>
            <a:r>
              <a:rPr lang="es-AR" sz="3600" dirty="0"/>
              <a:t>convertir una debilidad en fortaleza?</a:t>
            </a:r>
          </a:p>
        </p:txBody>
      </p:sp>
    </p:spTree>
    <p:extLst>
      <p:ext uri="{BB962C8B-B14F-4D97-AF65-F5344CB8AC3E}">
        <p14:creationId xmlns:p14="http://schemas.microsoft.com/office/powerpoint/2010/main" xmlns="" val="333917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90600" y="304800"/>
            <a:ext cx="5867400" cy="20621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3200" dirty="0"/>
              <a:t>Mencionar una pequeña desventaja </a:t>
            </a:r>
            <a:r>
              <a:rPr lang="es-AR" sz="3200" dirty="0" smtClean="0"/>
              <a:t> </a:t>
            </a:r>
            <a:r>
              <a:rPr lang="es-AR" sz="3200" dirty="0"/>
              <a:t>crea la </a:t>
            </a:r>
            <a:r>
              <a:rPr lang="es-AR" sz="3200" dirty="0" smtClean="0"/>
              <a:t>percepción de quien  </a:t>
            </a:r>
            <a:r>
              <a:rPr lang="es-AR" sz="3200" dirty="0"/>
              <a:t>lo anuncia es </a:t>
            </a:r>
            <a:r>
              <a:rPr lang="es-AR" sz="3200" dirty="0" smtClean="0"/>
              <a:t>sincero </a:t>
            </a:r>
            <a:r>
              <a:rPr lang="es-AR" sz="3200" dirty="0"/>
              <a:t>y de </a:t>
            </a:r>
            <a:r>
              <a:rPr lang="es-AR" sz="3200" dirty="0" smtClean="0"/>
              <a:t>fiar.</a:t>
            </a:r>
            <a:endParaRPr lang="es-AR" sz="3200" dirty="0"/>
          </a:p>
        </p:txBody>
      </p:sp>
      <p:sp>
        <p:nvSpPr>
          <p:cNvPr id="3" name="2 Rectángulo"/>
          <p:cNvSpPr/>
          <p:nvPr/>
        </p:nvSpPr>
        <p:spPr>
          <a:xfrm>
            <a:off x="1143000" y="3429001"/>
            <a:ext cx="5943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«Sólo confesamos</a:t>
            </a:r>
          </a:p>
          <a:p>
            <a:r>
              <a:rPr lang="es-AR" sz="3200" dirty="0"/>
              <a:t>nuestros pequeños fallos para persuadir a los demás de que no</a:t>
            </a:r>
          </a:p>
          <a:p>
            <a:r>
              <a:rPr lang="es-AR" sz="3200" dirty="0" smtClean="0"/>
              <a:t> </a:t>
            </a:r>
            <a:r>
              <a:rPr lang="es-AR" sz="3200" dirty="0"/>
              <a:t>tenemos mayores».</a:t>
            </a:r>
          </a:p>
        </p:txBody>
      </p:sp>
    </p:spTree>
    <p:extLst>
      <p:ext uri="{BB962C8B-B14F-4D97-AF65-F5344CB8AC3E}">
        <p14:creationId xmlns:p14="http://schemas.microsoft.com/office/powerpoint/2010/main" xmlns="" val="305288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71600" y="838200"/>
            <a:ext cx="548640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L</a:t>
            </a:r>
            <a:r>
              <a:rPr lang="es-AR" sz="3200" dirty="0" smtClean="0"/>
              <a:t>a </a:t>
            </a:r>
            <a:r>
              <a:rPr lang="es-AR" sz="3200" dirty="0"/>
              <a:t>percepción de credibilidad </a:t>
            </a:r>
            <a:r>
              <a:rPr lang="es-AR" sz="3200" dirty="0" smtClean="0"/>
              <a:t>debe contener  </a:t>
            </a:r>
            <a:r>
              <a:rPr lang="es-AR" sz="3200" dirty="0"/>
              <a:t>atributos negativos y positivos interconectados EJEMPLO </a:t>
            </a:r>
            <a:r>
              <a:rPr lang="es-AR" sz="3200" dirty="0" smtClean="0"/>
              <a:t>RESTAURANTE:</a:t>
            </a:r>
          </a:p>
          <a:p>
            <a:r>
              <a:rPr lang="es-AR" sz="3200" dirty="0"/>
              <a:t>hay poco espacio, pero gracias a eso el ambiente es</a:t>
            </a:r>
          </a:p>
          <a:p>
            <a:r>
              <a:rPr lang="es-AR" sz="3200" dirty="0"/>
              <a:t>muy acogedor</a:t>
            </a:r>
            <a:r>
              <a:rPr lang="es-AR" sz="3200" dirty="0" smtClean="0"/>
              <a:t>)</a:t>
            </a:r>
          </a:p>
          <a:p>
            <a:endParaRPr lang="es-AR" sz="2400" dirty="0"/>
          </a:p>
          <a:p>
            <a:endParaRPr lang="es-AR" sz="24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xmlns="" val="170697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57200" y="990600"/>
            <a:ext cx="6019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/>
              <a:t>EJEMPLO RONALD REAGAN </a:t>
            </a:r>
          </a:p>
          <a:p>
            <a:r>
              <a:rPr lang="es-AR" sz="2400" dirty="0"/>
              <a:t>cuando Ronald Reagan se presentó</a:t>
            </a:r>
          </a:p>
          <a:p>
            <a:r>
              <a:rPr lang="es-AR" sz="2400" dirty="0"/>
              <a:t>a su reelección en 1984, a algunos votantes les preocupaba </a:t>
            </a:r>
            <a:r>
              <a:rPr lang="es-AR" sz="2400" dirty="0" smtClean="0"/>
              <a:t>que fuera </a:t>
            </a:r>
            <a:r>
              <a:rPr lang="es-AR" sz="2400" dirty="0"/>
              <a:t>demasiado mayor para desempeñar el </a:t>
            </a:r>
            <a:r>
              <a:rPr lang="es-AR" sz="2400" dirty="0" smtClean="0"/>
              <a:t>cargo.</a:t>
            </a:r>
            <a:endParaRPr lang="es-AR" sz="2400" dirty="0"/>
          </a:p>
          <a:p>
            <a:r>
              <a:rPr lang="es-AR" sz="2400" dirty="0"/>
              <a:t>Durante el debate presidencial contra su </a:t>
            </a:r>
            <a:r>
              <a:rPr lang="es-AR" sz="2400" dirty="0" smtClean="0"/>
              <a:t>oponente  </a:t>
            </a:r>
            <a:r>
              <a:rPr lang="es-AR" sz="2400" dirty="0"/>
              <a:t>Reagan admitió que era muy mayor, pero añadió:</a:t>
            </a:r>
          </a:p>
          <a:p>
            <a:r>
              <a:rPr lang="es-AR" sz="2400" dirty="0"/>
              <a:t>«Quiero que sepan que no voy a hacer de la edad un tema de campaña.</a:t>
            </a:r>
          </a:p>
          <a:p>
            <a:r>
              <a:rPr lang="es-AR" sz="2400" dirty="0"/>
              <a:t>No me aprovecharé con fines políticos de la juventud e inexperiencia</a:t>
            </a:r>
          </a:p>
          <a:p>
            <a:r>
              <a:rPr lang="es-AR" sz="2400" dirty="0"/>
              <a:t>de mi oponente»</a:t>
            </a:r>
          </a:p>
        </p:txBody>
      </p:sp>
      <p:pic>
        <p:nvPicPr>
          <p:cNvPr id="4098" name="Picture 2" descr="https://encrypted-tbn1.gstatic.com/images?q=tbn:ANd9GcTW_9p7JCHW0GbTZB_j9ErZpSU1BePdXTIHAQxYQGyDh5fP8ig7T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3436" y="1143000"/>
            <a:ext cx="24193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24888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66800" y="1295400"/>
            <a:ext cx="6553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/>
              <a:t>Otros ejemplos:</a:t>
            </a:r>
          </a:p>
          <a:p>
            <a:endParaRPr lang="es-A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 smtClean="0"/>
              <a:t>Avis</a:t>
            </a:r>
            <a:r>
              <a:rPr lang="es-AR" sz="2800" dirty="0"/>
              <a:t>: somos el número dos, pero</a:t>
            </a:r>
          </a:p>
          <a:p>
            <a:r>
              <a:rPr lang="es-AR" sz="2800" dirty="0"/>
              <a:t>nos esforzamos más»</a:t>
            </a:r>
          </a:p>
          <a:p>
            <a:endParaRPr lang="es-A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 smtClean="0"/>
              <a:t>L'Oreal</a:t>
            </a:r>
            <a:r>
              <a:rPr lang="es-AR" sz="2800" dirty="0"/>
              <a:t>: somos caros, pero tú lo </a:t>
            </a:r>
            <a:r>
              <a:rPr lang="es-AR" sz="2800" dirty="0" smtClean="0"/>
              <a:t>vales.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xmlns="" val="3006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66800" y="914400"/>
            <a:ext cx="5791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/>
              <a:t>¿Cuándo las similitudes</a:t>
            </a:r>
          </a:p>
          <a:p>
            <a:r>
              <a:rPr lang="es-AR" sz="3200" dirty="0"/>
              <a:t>marcan la diferencia?</a:t>
            </a:r>
          </a:p>
        </p:txBody>
      </p:sp>
      <p:pic>
        <p:nvPicPr>
          <p:cNvPr id="6146" name="Picture 2" descr="https://encrypted-tbn3.gstatic.com/images?q=tbn:ANd9GcSKMF4pQA9yBtJ_zViNBXx7WfWgqXSr3iTycyqMj2EhLMkSqnEw1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72200" y="91440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81000" y="2551837"/>
            <a:ext cx="5791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/>
              <a:t>Una investigación de </a:t>
            </a:r>
            <a:r>
              <a:rPr lang="es-AR" sz="2400" dirty="0" smtClean="0"/>
              <a:t> </a:t>
            </a:r>
            <a:r>
              <a:rPr lang="es-AR" sz="2400" dirty="0"/>
              <a:t>van </a:t>
            </a:r>
            <a:r>
              <a:rPr lang="es-AR" sz="2400" dirty="0" err="1"/>
              <a:t>Baaren</a:t>
            </a:r>
            <a:r>
              <a:rPr lang="es-AR" sz="2400" dirty="0"/>
              <a:t> puso a prueba la teoría de que</a:t>
            </a:r>
          </a:p>
          <a:p>
            <a:r>
              <a:rPr lang="es-AR" sz="2400" dirty="0"/>
              <a:t>los  </a:t>
            </a:r>
            <a:r>
              <a:rPr lang="es-AR" sz="2400" dirty="0" smtClean="0"/>
              <a:t>mozos que </a:t>
            </a:r>
            <a:r>
              <a:rPr lang="es-AR" sz="2400" dirty="0"/>
              <a:t>se ajustan a las verbalizaciones de sus clientes</a:t>
            </a:r>
          </a:p>
          <a:p>
            <a:r>
              <a:rPr lang="es-AR" sz="2400" dirty="0"/>
              <a:t>una vez recibido el pedido ven aumentar el tamaño de sus </a:t>
            </a:r>
            <a:r>
              <a:rPr lang="es-AR" sz="2400" dirty="0" smtClean="0"/>
              <a:t>propinas de forma importante.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xmlns="" val="412912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85800" y="1447800"/>
            <a:ext cx="7391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800" dirty="0"/>
          </a:p>
          <a:p>
            <a:r>
              <a:rPr lang="es-AR" sz="2800" dirty="0" smtClean="0"/>
              <a:t> </a:t>
            </a:r>
            <a:r>
              <a:rPr lang="es-AR" sz="2800" dirty="0"/>
              <a:t>Dicen que la imitación es el mejor halago,</a:t>
            </a:r>
          </a:p>
          <a:p>
            <a:r>
              <a:rPr lang="es-AR" sz="2800" dirty="0"/>
              <a:t>pero estas estrategias indican que, además, es una de las técnicas</a:t>
            </a:r>
          </a:p>
          <a:p>
            <a:r>
              <a:rPr lang="es-AR" sz="2800" dirty="0"/>
              <a:t>más básicas de persuasión.</a:t>
            </a:r>
          </a:p>
        </p:txBody>
      </p:sp>
    </p:spTree>
    <p:extLst>
      <p:ext uri="{BB962C8B-B14F-4D97-AF65-F5344CB8AC3E}">
        <p14:creationId xmlns:p14="http://schemas.microsoft.com/office/powerpoint/2010/main" xmlns="" val="351254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14400" y="1371601"/>
            <a:ext cx="594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600" dirty="0"/>
              <a:t>¿Qué clase de sonrisa</a:t>
            </a:r>
          </a:p>
          <a:p>
            <a:r>
              <a:rPr lang="es-AR" sz="3600" dirty="0"/>
              <a:t>es contagiosa?</a:t>
            </a:r>
          </a:p>
        </p:txBody>
      </p:sp>
      <p:pic>
        <p:nvPicPr>
          <p:cNvPr id="7172" name="Picture 4" descr="http://2.bp.blogspot.com/_UU_bUx3fYug/TGSFUCLnniI/AAAAAAAAADk/aWPFZLoDOvc/s1600/sonris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752600"/>
            <a:ext cx="28194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81000" y="2933700"/>
            <a:ext cx="533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/>
              <a:t>«No abra </a:t>
            </a:r>
            <a:r>
              <a:rPr lang="es-AR" sz="2000" dirty="0" smtClean="0"/>
              <a:t>un Comercio </a:t>
            </a:r>
            <a:r>
              <a:rPr lang="es-AR" sz="2000" dirty="0"/>
              <a:t>a menos que le guste sonreír», advierte un sencillo</a:t>
            </a:r>
          </a:p>
          <a:p>
            <a:r>
              <a:rPr lang="es-AR" sz="2000" dirty="0" smtClean="0"/>
              <a:t> </a:t>
            </a:r>
            <a:r>
              <a:rPr lang="es-AR" sz="2000" dirty="0"/>
              <a:t>proverbio chino. Todos hemos oído hablar de la magia </a:t>
            </a:r>
            <a:r>
              <a:rPr lang="es-AR" sz="2000" dirty="0" smtClean="0"/>
              <a:t>de la </a:t>
            </a:r>
            <a:r>
              <a:rPr lang="es-AR" sz="2000" dirty="0"/>
              <a:t>sonrisa en la atención al cliente, pero ¿son todas</a:t>
            </a:r>
          </a:p>
          <a:p>
            <a:r>
              <a:rPr lang="es-AR" sz="2000" dirty="0"/>
              <a:t>las sonrisas iguales?</a:t>
            </a:r>
          </a:p>
          <a:p>
            <a:r>
              <a:rPr lang="es-AR" sz="2000" dirty="0"/>
              <a:t>La sonrisa que sale de adentro, la </a:t>
            </a:r>
            <a:r>
              <a:rPr lang="es-AR" sz="2000" dirty="0" smtClean="0"/>
              <a:t>sincera ES LA QUE HIPNOTIZA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xmlns="" val="256134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90600" y="1143000"/>
            <a:ext cx="58674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/>
              <a:t>si aparece el </a:t>
            </a:r>
            <a:r>
              <a:rPr lang="es-AR" sz="2800" dirty="0" smtClean="0"/>
              <a:t>cansancio, las personas  </a:t>
            </a:r>
            <a:r>
              <a:rPr lang="es-AR" sz="2800" dirty="0"/>
              <a:t>son </a:t>
            </a:r>
            <a:r>
              <a:rPr lang="es-AR" sz="2800" dirty="0" smtClean="0"/>
              <a:t>más propensas </a:t>
            </a:r>
            <a:r>
              <a:rPr lang="es-AR" sz="2800" dirty="0"/>
              <a:t>a encontrarse en un estado </a:t>
            </a:r>
            <a:r>
              <a:rPr lang="es-AR" sz="2800" dirty="0" smtClean="0"/>
              <a:t>de más </a:t>
            </a:r>
            <a:r>
              <a:rPr lang="es-AR" sz="2800" dirty="0"/>
              <a:t>de credulidad por</a:t>
            </a:r>
          </a:p>
          <a:p>
            <a:r>
              <a:rPr lang="es-AR" sz="2800" dirty="0"/>
              <a:t>la menor energía cognitiva y de motivación que provoca el </a:t>
            </a:r>
            <a:r>
              <a:rPr lang="es-AR" sz="2800" dirty="0" smtClean="0"/>
              <a:t>agotamiento.</a:t>
            </a:r>
          </a:p>
          <a:p>
            <a:r>
              <a:rPr lang="es-AR" sz="2800" dirty="0" smtClean="0"/>
              <a:t>Le suena porque tantos programas de </a:t>
            </a:r>
            <a:r>
              <a:rPr lang="es-AR" sz="2800" dirty="0" err="1" smtClean="0"/>
              <a:t>televentas</a:t>
            </a:r>
            <a:r>
              <a:rPr lang="es-AR" sz="2800" dirty="0" smtClean="0"/>
              <a:t> a la madrugada?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xmlns="" val="100370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19200" y="1295400"/>
            <a:ext cx="6629400" cy="26776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2400" dirty="0"/>
              <a:t>Pero la privación de sueño y el cansancio no son los únicos </a:t>
            </a:r>
            <a:r>
              <a:rPr lang="es-AR" sz="2400" dirty="0" smtClean="0"/>
              <a:t>factores que </a:t>
            </a:r>
            <a:r>
              <a:rPr lang="es-AR" sz="2400" dirty="0"/>
              <a:t>nos pueden hacer más fáciles de persuadir, sino que ciertos estudios</a:t>
            </a:r>
          </a:p>
          <a:p>
            <a:r>
              <a:rPr lang="es-AR" sz="2400" dirty="0"/>
              <a:t>demuestran que la distracción provoca un efecto similar en </a:t>
            </a:r>
            <a:r>
              <a:rPr lang="es-AR" sz="2400" dirty="0" smtClean="0"/>
              <a:t>la susceptibilidad </a:t>
            </a:r>
            <a:r>
              <a:rPr lang="es-AR" sz="2400" dirty="0"/>
              <a:t>a la influencia de las personas, incluso si se trata </a:t>
            </a:r>
            <a:r>
              <a:rPr lang="es-AR" sz="2400" dirty="0" smtClean="0"/>
              <a:t>de una </a:t>
            </a:r>
            <a:r>
              <a:rPr lang="es-AR" sz="2400" dirty="0"/>
              <a:t>distracción momentánea.</a:t>
            </a:r>
          </a:p>
        </p:txBody>
      </p:sp>
    </p:spTree>
    <p:extLst>
      <p:ext uri="{BB962C8B-B14F-4D97-AF65-F5344CB8AC3E}">
        <p14:creationId xmlns:p14="http://schemas.microsoft.com/office/powerpoint/2010/main" xmlns="" val="281920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47800" y="838200"/>
            <a:ext cx="4406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b="1" dirty="0" smtClean="0"/>
              <a:t>Interrupción </a:t>
            </a:r>
            <a:r>
              <a:rPr lang="es-AR" sz="2800" b="1" dirty="0" err="1" smtClean="0"/>
              <a:t>dePatrones</a:t>
            </a:r>
            <a:r>
              <a:rPr lang="es-AR" sz="2800" b="1" dirty="0" smtClean="0"/>
              <a:t>.</a:t>
            </a:r>
            <a:endParaRPr lang="es-AR" sz="2800" dirty="0"/>
          </a:p>
        </p:txBody>
      </p:sp>
      <p:sp>
        <p:nvSpPr>
          <p:cNvPr id="3" name="2 Rectángulo"/>
          <p:cNvSpPr/>
          <p:nvPr/>
        </p:nvSpPr>
        <p:spPr>
          <a:xfrm>
            <a:off x="1524000" y="1600200"/>
            <a:ext cx="50169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b="1" dirty="0" smtClean="0"/>
              <a:t>La Influencia de la  palabra:    “porque”.</a:t>
            </a:r>
            <a:endParaRPr lang="es-AR" sz="2800" dirty="0"/>
          </a:p>
        </p:txBody>
      </p:sp>
      <p:sp>
        <p:nvSpPr>
          <p:cNvPr id="4" name="3 Rectángulo"/>
          <p:cNvSpPr/>
          <p:nvPr/>
        </p:nvSpPr>
        <p:spPr>
          <a:xfrm>
            <a:off x="1676400" y="2667000"/>
            <a:ext cx="3910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b="1" dirty="0" smtClean="0"/>
              <a:t>La Repetición del Sí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7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E91A40-7F02-441A-A673-0B328C534929}" type="slidenum">
              <a:rPr lang="es-ES"/>
              <a:pPr>
                <a:defRPr/>
              </a:pPr>
              <a:t>43</a:t>
            </a:fld>
            <a:endParaRPr lang="es-E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AR" dirty="0" smtClean="0"/>
              <a:t> </a:t>
            </a:r>
            <a:r>
              <a:rPr lang="es-ES" altLang="es-AR" dirty="0" smtClean="0">
                <a:cs typeface="Times New Roman" pitchFamily="18" charset="0"/>
              </a:rPr>
              <a:t>Cuenta historias, vende emociones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381000" indent="-381000" eaLnBrk="1" hangingPunct="1">
              <a:buFontTx/>
              <a:buNone/>
            </a:pPr>
            <a:r>
              <a:rPr lang="es-ES" altLang="es-AR" sz="2000" i="1" dirty="0" smtClean="0">
                <a:cs typeface="Times New Roman" pitchFamily="18" charset="0"/>
              </a:rPr>
              <a:t>“Todos los </a:t>
            </a:r>
            <a:r>
              <a:rPr lang="es-ES" altLang="es-AR" sz="2000" i="1" dirty="0">
                <a:cs typeface="Times New Roman" pitchFamily="18" charset="0"/>
              </a:rPr>
              <a:t> </a:t>
            </a:r>
            <a:r>
              <a:rPr lang="es-ES" altLang="es-AR" sz="2000" i="1" dirty="0" smtClean="0">
                <a:cs typeface="Times New Roman" pitchFamily="18" charset="0"/>
              </a:rPr>
              <a:t>vendedores son unos mentirosos; tanto mejor, porque los consumidores adoran que se les cuenten cuentos”</a:t>
            </a:r>
          </a:p>
          <a:p>
            <a:pPr marL="381000" indent="-381000" algn="r" eaLnBrk="1" hangingPunct="1">
              <a:buFontTx/>
              <a:buNone/>
            </a:pPr>
            <a:r>
              <a:rPr lang="es-ES" altLang="es-AR" sz="2000" dirty="0" err="1" smtClean="0">
                <a:cs typeface="Times New Roman" pitchFamily="18" charset="0"/>
              </a:rPr>
              <a:t>Seth</a:t>
            </a:r>
            <a:r>
              <a:rPr lang="es-ES" altLang="es-AR" sz="2000" dirty="0" smtClean="0">
                <a:cs typeface="Times New Roman" pitchFamily="18" charset="0"/>
              </a:rPr>
              <a:t> </a:t>
            </a:r>
            <a:r>
              <a:rPr lang="es-ES" altLang="es-AR" sz="2000" dirty="0" err="1" smtClean="0">
                <a:cs typeface="Times New Roman" pitchFamily="18" charset="0"/>
              </a:rPr>
              <a:t>Godin</a:t>
            </a:r>
            <a:endParaRPr lang="es-ES" altLang="es-AR" sz="2000" dirty="0" smtClean="0">
              <a:cs typeface="Times New Roman" pitchFamily="18" charset="0"/>
            </a:endParaRPr>
          </a:p>
          <a:p>
            <a:pPr marL="381000" indent="-381000" eaLnBrk="1" hangingPunct="1">
              <a:buFontTx/>
              <a:buNone/>
            </a:pPr>
            <a:endParaRPr lang="es-ES" altLang="es-AR" sz="2000" dirty="0" smtClean="0">
              <a:cs typeface="Times New Roman" pitchFamily="18" charset="0"/>
            </a:endParaRP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609600" y="990600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s-ES" altLang="es-AR" sz="2800">
                <a:solidFill>
                  <a:srgbClr val="FF6600"/>
                </a:solidFill>
                <a:latin typeface="Tahoma" pitchFamily="34" charset="0"/>
              </a:rPr>
              <a:t>Creer para ver</a:t>
            </a:r>
          </a:p>
        </p:txBody>
      </p:sp>
      <p:pic>
        <p:nvPicPr>
          <p:cNvPr id="13319" name="Picture 5" descr="D:\CURSOS_FORMACIÓN\Caer en La Red - Fórmulas para persuadir más y mejor\IMGs\contextuales\Persuasion Zi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1900" y="3124200"/>
            <a:ext cx="40513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81305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15616" y="1124744"/>
            <a:ext cx="6912768" cy="4154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4400" dirty="0">
                <a:solidFill>
                  <a:schemeClr val="tx1"/>
                </a:solidFill>
              </a:rPr>
              <a:t>Las técnicas no funcionan por si solas. Se necesitan personas </a:t>
            </a:r>
            <a:r>
              <a:rPr lang="es-AR" sz="4400" dirty="0" smtClean="0">
                <a:solidFill>
                  <a:schemeClr val="tx1"/>
                </a:solidFill>
              </a:rPr>
              <a:t>que  trabajen con </a:t>
            </a:r>
            <a:r>
              <a:rPr lang="es-AR" sz="4400" dirty="0">
                <a:solidFill>
                  <a:schemeClr val="tx1"/>
                </a:solidFill>
              </a:rPr>
              <a:t>ellas. Si trabajas con estas técnicas</a:t>
            </a:r>
            <a:r>
              <a:rPr lang="es-AR" sz="4400" dirty="0" smtClean="0">
                <a:solidFill>
                  <a:schemeClr val="tx1"/>
                </a:solidFill>
              </a:rPr>
              <a:t>, las practicas: </a:t>
            </a:r>
            <a:r>
              <a:rPr lang="es-AR" sz="4400" dirty="0">
                <a:solidFill>
                  <a:schemeClr val="tx1"/>
                </a:solidFill>
              </a:rPr>
              <a:t>¡funcionarán para ti!</a:t>
            </a:r>
          </a:p>
        </p:txBody>
      </p:sp>
    </p:spTree>
    <p:extLst>
      <p:ext uri="{BB962C8B-B14F-4D97-AF65-F5344CB8AC3E}">
        <p14:creationId xmlns:p14="http://schemas.microsoft.com/office/powerpoint/2010/main" xmlns="" val="3249111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7120</TotalTime>
  <Words>1134</Words>
  <Application>Microsoft Office PowerPoint</Application>
  <PresentationFormat>Presentación en pantalla (4:3)</PresentationFormat>
  <Paragraphs>127</Paragraphs>
  <Slides>44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5" baseType="lpstr">
      <vt:lpstr>Tema de Office</vt:lpstr>
      <vt:lpstr>EL PODER DE LA PERSUASION </vt:lpstr>
      <vt:lpstr>Diapositiva 2</vt:lpstr>
      <vt:lpstr>Diapositiva 3</vt:lpstr>
      <vt:lpstr>Diapositiva 4</vt:lpstr>
      <vt:lpstr>Diapositiva 5</vt:lpstr>
      <vt:lpstr>la persuasión es una de las habilidades más efectivas para construir relaciones personales  exitosas y alcanzar lo Que deseamos en la vida</vt:lpstr>
      <vt:lpstr>Diapositiva 7</vt:lpstr>
      <vt:lpstr>Diapositiva 8</vt:lpstr>
      <vt:lpstr>Diapositiva 9</vt:lpstr>
      <vt:lpstr>Concepto</vt:lpstr>
      <vt:lpstr>Diapositiva 11</vt:lpstr>
      <vt:lpstr>Concepto</vt:lpstr>
      <vt:lpstr>Diapositiva 13</vt:lpstr>
      <vt:lpstr>Diapositiva 14</vt:lpstr>
      <vt:lpstr>Diapositiva 15</vt:lpstr>
      <vt:lpstr>Diapositiva 16</vt:lpstr>
      <vt:lpstr>Diapositiva 17</vt:lpstr>
      <vt:lpstr>Seamos  firmes  en la aprobación y calurosos en  el elogio.</vt:lpstr>
      <vt:lpstr>Diapositiva 19</vt:lpstr>
      <vt:lpstr>Diapositiva 20</vt:lpstr>
      <vt:lpstr>Diapositiva 21</vt:lpstr>
      <vt:lpstr>Diapositiva 22</vt:lpstr>
      <vt:lpstr>Concepto</vt:lpstr>
      <vt:lpstr> Validación </vt:lpstr>
      <vt:lpstr>Diapositiva 25</vt:lpstr>
      <vt:lpstr>Concepto</vt:lpstr>
      <vt:lpstr> Expectativa</vt:lpstr>
      <vt:lpstr>Diapositiva 28</vt:lpstr>
      <vt:lpstr>Concepto</vt:lpstr>
      <vt:lpstr>Diapositiva 30</vt:lpstr>
      <vt:lpstr>Diapositiva 31</vt:lpstr>
      <vt:lpstr>Diapositiva 32</vt:lpstr>
      <vt:lpstr>Diapositiva 33</vt:lpstr>
      <vt:lpstr>Diapositiva 34</vt:lpstr>
      <vt:lpstr>Diapositiva 35</vt:lpstr>
      <vt:lpstr>Diapositiva 36</vt:lpstr>
      <vt:lpstr>Diapositiva 37</vt:lpstr>
      <vt:lpstr>Diapositiva 38</vt:lpstr>
      <vt:lpstr>Diapositiva 39</vt:lpstr>
      <vt:lpstr>Diapositiva 40</vt:lpstr>
      <vt:lpstr>Diapositiva 41</vt:lpstr>
      <vt:lpstr>Diapositiva 42</vt:lpstr>
      <vt:lpstr> Cuenta historias, vende emociones</vt:lpstr>
      <vt:lpstr>Diapositiva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psicológicos que se pueden usar en Marketing</dc:title>
  <dc:creator>LUIS RETAMOZO</dc:creator>
  <cp:lastModifiedBy>Usuario</cp:lastModifiedBy>
  <cp:revision>48</cp:revision>
  <dcterms:created xsi:type="dcterms:W3CDTF">2013-07-26T22:26:15Z</dcterms:created>
  <dcterms:modified xsi:type="dcterms:W3CDTF">2017-06-13T22:09:40Z</dcterms:modified>
</cp:coreProperties>
</file>